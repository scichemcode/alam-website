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8" r:id="rId3"/>
    <p:sldId id="257" r:id="rId4"/>
    <p:sldId id="306" r:id="rId5"/>
    <p:sldId id="284" r:id="rId6"/>
    <p:sldId id="258" r:id="rId7"/>
    <p:sldId id="307" r:id="rId8"/>
    <p:sldId id="264" r:id="rId9"/>
    <p:sldId id="260" r:id="rId10"/>
    <p:sldId id="265" r:id="rId11"/>
    <p:sldId id="273" r:id="rId12"/>
    <p:sldId id="283" r:id="rId13"/>
    <p:sldId id="301" r:id="rId14"/>
    <p:sldId id="285" r:id="rId15"/>
    <p:sldId id="303" r:id="rId16"/>
    <p:sldId id="304" r:id="rId17"/>
    <p:sldId id="305" r:id="rId18"/>
    <p:sldId id="31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4B36E3-EDBA-6396-331F-1197AC49D068}" v="6" dt="2026-06-26T15:54:56.1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85" autoAdjust="0"/>
    <p:restoredTop sz="94660"/>
  </p:normalViewPr>
  <p:slideViewPr>
    <p:cSldViewPr snapToGrid="0">
      <p:cViewPr varScale="1">
        <p:scale>
          <a:sx n="71" d="100"/>
          <a:sy n="71" d="100"/>
        </p:scale>
        <p:origin x="7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D3EFC-4CB0-7C89-9D21-F992F2C1B8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CCD6E4-ED6B-89D2-CB2D-1F9534BC38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2B5DE-2506-615E-9154-1D1728E97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DA969-3868-4AE8-9E21-1A75C387A598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7ED8C-80D9-A49D-78A3-4ED0F93E1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29631-17A1-B362-9163-4C8AB37FE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4B168-8B3C-4F70-88C1-7F7CA6701B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277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D484D-FC50-456D-5951-AB1E897B0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F9277-3A58-DD36-7400-EC0E0A677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008A3-F54E-BC42-6EC8-5AD7C5B52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DA969-3868-4AE8-9E21-1A75C387A598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AEDA3-FB85-8311-9623-05FEE6DD1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597C4-4CA0-6B04-7ABA-8A1A9CF40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4B168-8B3C-4F70-88C1-7F7CA6701B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953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2CEE3-94D7-C286-AF79-084DA846A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AAE9D-2E8C-E34F-9DEA-24A7FE9DA8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EA4BF-E267-33F7-42E0-93CDF82D8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DA969-3868-4AE8-9E21-1A75C387A598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9EC81-0303-1945-FFD2-3E1FDA003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7CDC0-44AA-732E-75D9-3C8E8C68A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4B168-8B3C-4F70-88C1-7F7CA6701B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2963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2AC5D-F284-CB7A-A70A-EAAB16DB2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6E3BE-C1E8-33EA-5050-920D988A4E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193A28-167B-6BE3-BCF9-E30E820EC4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AF6B92-6C8F-15BF-E533-9AD8DE0CE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DA969-3868-4AE8-9E21-1A75C387A598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2945E0-FAA8-6419-7BA0-4099DD741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D22A03-813D-290D-1E66-4DA4FE455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4B168-8B3C-4F70-88C1-7F7CA6701B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7698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CC5B6-F798-53AB-C322-ACF0664C3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E773B4-DC66-8BAB-3977-9B44D1C59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91EA0D-33A5-B8E7-95EB-C399FAF9E0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9C7B4B-2EB1-FAAE-D9BC-A4B36BCA21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DCC269-D4D9-C0AF-B26C-224874FE49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DEBD75-27DB-4F95-B20C-CCA01E0C1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DA969-3868-4AE8-9E21-1A75C387A598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0B2CA6-E483-15D9-12A8-C4F313C19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E22307-081B-B4EA-5B36-55CC2C788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4B168-8B3C-4F70-88C1-7F7CA6701B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948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3ECC7-F64B-DF44-0438-3EC99CB28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11396B-B3F1-3B70-C426-44029B916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DA969-3868-4AE8-9E21-1A75C387A598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1A5315-5A18-A4E3-8195-77083F0F7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189FF6-B938-C33E-FF2B-AF68576E5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4B168-8B3C-4F70-88C1-7F7CA6701B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019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8B7371-B220-CFAF-0B2F-14AD52DAF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DA969-3868-4AE8-9E21-1A75C387A598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8FE42F-9FC8-40CD-7D6A-B0020660F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86D5C-2944-E68E-85A8-021DFB0D3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4B168-8B3C-4F70-88C1-7F7CA6701B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6149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3670B-04F7-8ABB-839C-ED13CC16B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C7D8B-A73B-4CCE-BBB7-32CC9D75A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5B04AB-71BD-C830-A6E0-070485463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BDAAE5-7830-C7CE-9445-791D6A833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DA969-3868-4AE8-9E21-1A75C387A598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B34793-9F35-5107-259E-407C4B470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07BE04-399F-1E21-167B-F1069CFED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4B168-8B3C-4F70-88C1-7F7CA6701B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044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543D1-EC92-CCAD-FB1D-B0C5B151E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031280-F631-84A6-3E64-18F377C21E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A81E58-D67F-A372-A086-9969517A1B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C7510-5B46-C3E1-4BCC-7291A70E8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DA969-3868-4AE8-9E21-1A75C387A598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4527D-ADE8-6D51-85DD-FC277FD90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9F82D7-DDEB-4881-2020-637A496DA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4B168-8B3C-4F70-88C1-7F7CA6701B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9762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3D711-2D17-0EC8-08B6-C0F676EA4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E8F4E0-165A-FD81-4ADE-D334E54BC6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0BEE5-1BBF-7733-C086-0E9EED5DE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DA969-3868-4AE8-9E21-1A75C387A598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AE807-5891-0015-4CE6-261239EF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1F861-5D3E-045C-9AF7-BB92CF61B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4B168-8B3C-4F70-88C1-7F7CA6701B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8608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D21196-68B8-CF87-69F5-41EACE0B6F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051851-7A8B-02C2-69E5-FFB65927DA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08357-A2AA-CB5C-459B-AEA1CB240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DA969-3868-4AE8-9E21-1A75C387A598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CFA82-DCDA-AF3A-1A1E-9CC063551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24CDE-9822-E84A-D43B-72B70F4C1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4B168-8B3C-4F70-88C1-7F7CA6701B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1904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55649B-70DC-86C3-500A-F3E80D6F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41F9C-A93C-6F88-64C6-B2E8768FB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D124F-7890-96C3-0FF3-FFF8853AC3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BDA969-3868-4AE8-9E21-1A75C387A598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0A100-053C-0A3D-DCFA-CD1D286E3B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FA4B9-0EFC-667E-065C-588ABFE2FE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D4B168-8B3C-4F70-88C1-7F7CA6701B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5404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ontiersin.org/articles/10.3389/fchem.2020.577508/full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ontiersin.org/articles/10.3389/fphy.2018.00097/full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iencedirect.com/science/article/abs/pii/S0301010419303118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Slide Background">
            <a:extLst>
              <a:ext uri="{FF2B5EF4-FFF2-40B4-BE49-F238E27FC236}">
                <a16:creationId xmlns:a16="http://schemas.microsoft.com/office/drawing/2014/main" id="{CAB6D7AF-734C-43E5-AE74-E8EC5D462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AC6E29-5F3F-E9CF-EEBF-5768F1987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762001"/>
            <a:ext cx="5333999" cy="1475116"/>
          </a:xfrm>
        </p:spPr>
        <p:txBody>
          <a:bodyPr anchor="t">
            <a:normAutofit/>
          </a:bodyPr>
          <a:lstStyle/>
          <a:p>
            <a:pPr algn="l"/>
            <a:r>
              <a:rPr lang="en-IN" sz="3100" b="1"/>
              <a:t>Structure and Dynamics of model lipid bilayers using All atom MD Simulations</a:t>
            </a:r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36830A5B-65B2-40C0-80F8-67EFC8A6B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1801" y="0"/>
            <a:ext cx="5410196" cy="6862190"/>
          </a:xfrm>
          <a:prstGeom prst="rect">
            <a:avLst/>
          </a:prstGeom>
          <a:ln>
            <a:noFill/>
          </a:ln>
          <a:effectLst>
            <a:outerShdw blurRad="317500" dist="254000" dir="8580000" sx="90000" sy="90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diagram of a structure&#10;&#10;Description automatically generated">
            <a:extLst>
              <a:ext uri="{FF2B5EF4-FFF2-40B4-BE49-F238E27FC236}">
                <a16:creationId xmlns:a16="http://schemas.microsoft.com/office/drawing/2014/main" id="{4CBAA29B-796E-8900-918D-A80FD1834D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30219" y="3510873"/>
            <a:ext cx="5226961" cy="1816368"/>
          </a:xfrm>
          <a:prstGeom prst="rect">
            <a:avLst/>
          </a:prstGeom>
        </p:spPr>
      </p:pic>
      <p:pic>
        <p:nvPicPr>
          <p:cNvPr id="4" name="Picture 3" descr="Close up of a molecular model">
            <a:extLst>
              <a:ext uri="{FF2B5EF4-FFF2-40B4-BE49-F238E27FC236}">
                <a16:creationId xmlns:a16="http://schemas.microsoft.com/office/drawing/2014/main" id="{F56FFCA4-78E5-9B59-7E8A-925788E2D43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455" r="427" b="9100"/>
          <a:stretch/>
        </p:blipFill>
        <p:spPr>
          <a:xfrm>
            <a:off x="7611654" y="2892873"/>
            <a:ext cx="3855722" cy="30523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8C256B-067F-8A75-7B99-5370C5B75190}"/>
              </a:ext>
            </a:extLst>
          </p:cNvPr>
          <p:cNvSpPr txBox="1"/>
          <p:nvPr/>
        </p:nvSpPr>
        <p:spPr>
          <a:xfrm>
            <a:off x="3855936" y="5127186"/>
            <a:ext cx="2201244" cy="200055"/>
          </a:xfrm>
          <a:prstGeom prst="rect">
            <a:avLst/>
          </a:prstGeom>
          <a:solidFill>
            <a:srgbClr val="000000"/>
          </a:solidFill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r>
              <a:rPr lang="en-US" sz="70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56662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olecules">
            <a:extLst>
              <a:ext uri="{FF2B5EF4-FFF2-40B4-BE49-F238E27FC236}">
                <a16:creationId xmlns:a16="http://schemas.microsoft.com/office/drawing/2014/main" id="{DBD9C15B-3283-F0CE-55C1-71F545E358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133" r="15285" b="-4"/>
          <a:stretch/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AE1A6E-F983-441C-811C-EF0230535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IN" sz="4000"/>
              <a:t>Outline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C9B2B-39FE-B3A9-0641-D14318B76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/>
          </a:bodyPr>
          <a:lstStyle/>
          <a:p>
            <a:r>
              <a:rPr lang="en-IN" sz="2000"/>
              <a:t>Why study lipid dynamics in membranes?</a:t>
            </a:r>
          </a:p>
          <a:p>
            <a:r>
              <a:rPr lang="en-IN" sz="2000"/>
              <a:t>Insights from such studies</a:t>
            </a:r>
          </a:p>
          <a:p>
            <a:r>
              <a:rPr lang="en-IN" sz="2000"/>
              <a:t>Condensed phase dynamics</a:t>
            </a:r>
          </a:p>
          <a:p>
            <a:r>
              <a:rPr lang="en-IN" sz="2000"/>
              <a:t>Lipid movements in cell membranes</a:t>
            </a:r>
          </a:p>
          <a:p>
            <a:r>
              <a:rPr lang="en-IN" sz="2000"/>
              <a:t>Experimental methods to study lipid dynamics</a:t>
            </a:r>
          </a:p>
          <a:p>
            <a:r>
              <a:rPr lang="en-IN" sz="2000"/>
              <a:t>Membrane Phase Transition</a:t>
            </a:r>
          </a:p>
          <a:p>
            <a:r>
              <a:rPr lang="en-IN" sz="2000"/>
              <a:t>Computational Insights to phase transition of DMPG</a:t>
            </a:r>
          </a:p>
          <a:p>
            <a:r>
              <a:rPr lang="en-IN" sz="200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171766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ABA54-A12A-9064-7AC8-0E91033C8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5576" y="-153196"/>
            <a:ext cx="7605713" cy="1325563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   Why study lipid dynamics?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399283-5834-C996-D0A1-316F37913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949" y="1172367"/>
            <a:ext cx="5049501" cy="4986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C8F156-C2D1-5305-A8D2-406D00B009A2}"/>
              </a:ext>
            </a:extLst>
          </p:cNvPr>
          <p:cNvSpPr txBox="1"/>
          <p:nvPr/>
        </p:nvSpPr>
        <p:spPr>
          <a:xfrm>
            <a:off x="2043112" y="6581001"/>
            <a:ext cx="126301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https://www.mechanobio.info/membrane-dynamics/#:~:text=Dynamic%20lipid%2Dprotein%20interactions%20on,domains%2C%20such%20as%20lipid%20rafts.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C10C4B-0B62-E33C-62AC-DF809F89C024}"/>
              </a:ext>
            </a:extLst>
          </p:cNvPr>
          <p:cNvSpPr txBox="1"/>
          <p:nvPr/>
        </p:nvSpPr>
        <p:spPr>
          <a:xfrm>
            <a:off x="7100887" y="2644170"/>
            <a:ext cx="44577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Understanding the dynamics will help one study membrane function catering to different cellular processes</a:t>
            </a:r>
          </a:p>
        </p:txBody>
      </p:sp>
    </p:spTree>
    <p:extLst>
      <p:ext uri="{BB962C8B-B14F-4D97-AF65-F5344CB8AC3E}">
        <p14:creationId xmlns:p14="http://schemas.microsoft.com/office/powerpoint/2010/main" val="781686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05180-2273-264E-F380-5BC19FCB3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1288" y="0"/>
            <a:ext cx="6369424" cy="898899"/>
          </a:xfrm>
        </p:spPr>
        <p:txBody>
          <a:bodyPr/>
          <a:lstStyle/>
          <a:p>
            <a:r>
              <a:rPr lang="en-IN" b="1" dirty="0"/>
              <a:t>Insights from such studies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DA5B51-3BDD-2515-6DB4-59A002600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21" y="1614381"/>
            <a:ext cx="3622543" cy="22749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C8C115-0794-7074-254D-9FA9A4A491B7}"/>
              </a:ext>
            </a:extLst>
          </p:cNvPr>
          <p:cNvSpPr txBox="1"/>
          <p:nvPr/>
        </p:nvSpPr>
        <p:spPr>
          <a:xfrm>
            <a:off x="239021" y="4106140"/>
            <a:ext cx="38962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Phase transition of membranes in presence of small organic molecules.</a:t>
            </a:r>
          </a:p>
          <a:p>
            <a:r>
              <a:rPr lang="en-IN" sz="1600" i="1" dirty="0"/>
              <a:t>J. Phys. Chem. B 2021, 125, 36, 10149–10165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279AE4-791C-5D39-5627-921F47648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086" y="1573336"/>
            <a:ext cx="3594611" cy="22749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130BF73-8BEC-9FA2-5FDB-0A6377D0651B}"/>
              </a:ext>
            </a:extLst>
          </p:cNvPr>
          <p:cNvSpPr txBox="1"/>
          <p:nvPr/>
        </p:nvSpPr>
        <p:spPr>
          <a:xfrm>
            <a:off x="4505980" y="4106140"/>
            <a:ext cx="40256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Functional group changes in lipid chain protecting cells in cold shock conditions</a:t>
            </a:r>
          </a:p>
          <a:p>
            <a:r>
              <a:rPr lang="en-IN" sz="1600" i="1" dirty="0"/>
              <a:t>J. Phys. Chem. B 2023, 127, 7, 1607–1617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996C0F-0574-A6DF-9D63-20382F97C3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6659" y="1013395"/>
            <a:ext cx="2612130" cy="27383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ADFD4A1-63ED-E6FA-B8AB-78AC2E3F6269}"/>
              </a:ext>
            </a:extLst>
          </p:cNvPr>
          <p:cNvSpPr txBox="1"/>
          <p:nvPr/>
        </p:nvSpPr>
        <p:spPr>
          <a:xfrm>
            <a:off x="8857128" y="3866213"/>
            <a:ext cx="333487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Relaxation time scales of interfacial water upon fluid to ripple to gel phase transitions of bilayers</a:t>
            </a:r>
          </a:p>
          <a:p>
            <a:r>
              <a:rPr lang="de-DE" sz="1600" i="1" dirty="0"/>
              <a:t>J. Chem. Phys. 158, 114503 (2023)</a:t>
            </a:r>
            <a:endParaRPr lang="en-IN" sz="1600" i="1" dirty="0"/>
          </a:p>
          <a:p>
            <a:endParaRPr lang="en-IN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AF713A-0E98-898C-8FB1-DA033BC66475}"/>
              </a:ext>
            </a:extLst>
          </p:cNvPr>
          <p:cNvSpPr txBox="1"/>
          <p:nvPr/>
        </p:nvSpPr>
        <p:spPr>
          <a:xfrm>
            <a:off x="2481541" y="5381174"/>
            <a:ext cx="51905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Cellular protection at extreme conditions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E3D240-F006-E1BF-6557-D5CBADC7566C}"/>
              </a:ext>
            </a:extLst>
          </p:cNvPr>
          <p:cNvSpPr txBox="1"/>
          <p:nvPr/>
        </p:nvSpPr>
        <p:spPr>
          <a:xfrm>
            <a:off x="8256494" y="5131610"/>
            <a:ext cx="3606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/>
                </a:solidFill>
              </a:rPr>
              <a:t>Changes in membrane-bound water</a:t>
            </a:r>
          </a:p>
        </p:txBody>
      </p:sp>
    </p:spTree>
    <p:extLst>
      <p:ext uri="{BB962C8B-B14F-4D97-AF65-F5344CB8AC3E}">
        <p14:creationId xmlns:p14="http://schemas.microsoft.com/office/powerpoint/2010/main" val="151048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CB44B-856C-4E99-4121-F24EEC85E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012" y="0"/>
            <a:ext cx="10515600" cy="950537"/>
          </a:xfrm>
        </p:spPr>
        <p:txBody>
          <a:bodyPr/>
          <a:lstStyle/>
          <a:p>
            <a:r>
              <a:rPr lang="en-IN" b="1" dirty="0"/>
              <a:t>           Dynamics in condensed phase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55CCCB7-24FB-2F99-9F35-12852C6EA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079" y="1331334"/>
            <a:ext cx="6208059" cy="4881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A71119-E116-BE3A-993A-CA8734DC17CD}"/>
              </a:ext>
            </a:extLst>
          </p:cNvPr>
          <p:cNvSpPr txBox="1"/>
          <p:nvPr/>
        </p:nvSpPr>
        <p:spPr>
          <a:xfrm>
            <a:off x="8858250" y="6488668"/>
            <a:ext cx="29886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282828"/>
                </a:solidFill>
                <a:effectLst/>
                <a:latin typeface="MuseoSans"/>
                <a:hlinkClick r:id="rId3"/>
              </a:rPr>
              <a:t>Front. Phys., 02 October 2018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FA1F4F-5ABA-64AB-E26B-50D9E43EA7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7444" y="1331334"/>
            <a:ext cx="4148477" cy="2150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2817BE-4223-CD91-CD59-D4ABA20E20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2145" y="3705127"/>
            <a:ext cx="4053776" cy="2783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65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B631C-2A13-DA42-3EDB-2A457991B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131" y="122238"/>
            <a:ext cx="10853737" cy="1325563"/>
          </a:xfrm>
        </p:spPr>
        <p:txBody>
          <a:bodyPr/>
          <a:lstStyle/>
          <a:p>
            <a:r>
              <a:rPr lang="en-IN" b="1" dirty="0"/>
              <a:t>How lipid molecules move in a cell membrane?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E22FB0-70FD-74BD-7B55-47C5DF0F15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990" t="16203"/>
          <a:stretch/>
        </p:blipFill>
        <p:spPr>
          <a:xfrm>
            <a:off x="465726" y="1626739"/>
            <a:ext cx="5630273" cy="36045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BA94013-B92B-B9E9-1B09-D973461B3D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197" y="1626739"/>
            <a:ext cx="5859934" cy="3160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1B3E0DA-A797-726A-9E5C-5FAD867BADDD}"/>
              </a:ext>
            </a:extLst>
          </p:cNvPr>
          <p:cNvSpPr txBox="1"/>
          <p:nvPr/>
        </p:nvSpPr>
        <p:spPr>
          <a:xfrm>
            <a:off x="8568164" y="5077371"/>
            <a:ext cx="34128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i="0" dirty="0">
                <a:effectLst/>
                <a:latin typeface="Comic Sans MS" panose="030F0702030302020204" pitchFamily="66" charset="0"/>
              </a:rPr>
              <a:t>Qian </a:t>
            </a:r>
            <a:r>
              <a:rPr lang="en-IN" sz="1400" b="0" i="1" dirty="0">
                <a:effectLst/>
                <a:latin typeface="Comic Sans MS" panose="030F0702030302020204" pitchFamily="66" charset="0"/>
              </a:rPr>
              <a:t>et al.</a:t>
            </a:r>
            <a:r>
              <a:rPr lang="en-IN" sz="1400" b="0" i="0" dirty="0">
                <a:effectLst/>
                <a:latin typeface="Comic Sans MS" panose="030F0702030302020204" pitchFamily="66" charset="0"/>
              </a:rPr>
              <a:t>, </a:t>
            </a:r>
            <a:r>
              <a:rPr lang="en-IN" sz="1400" b="0" i="1" dirty="0">
                <a:effectLst/>
                <a:latin typeface="Comic Sans MS" panose="030F0702030302020204" pitchFamily="66" charset="0"/>
              </a:rPr>
              <a:t>Langmuir</a:t>
            </a:r>
            <a:r>
              <a:rPr lang="en-IN" sz="1400" b="0" i="0" dirty="0">
                <a:effectLst/>
                <a:latin typeface="Comic Sans MS" panose="030F0702030302020204" pitchFamily="66" charset="0"/>
              </a:rPr>
              <a:t>, </a:t>
            </a:r>
            <a:r>
              <a:rPr lang="en-IN" sz="1400" b="1" i="0" dirty="0">
                <a:effectLst/>
                <a:latin typeface="Comic Sans MS" panose="030F0702030302020204" pitchFamily="66" charset="0"/>
              </a:rPr>
              <a:t>36</a:t>
            </a:r>
            <a:r>
              <a:rPr lang="en-IN" sz="1400" b="0" i="0" dirty="0">
                <a:effectLst/>
                <a:latin typeface="Comic Sans MS" panose="030F0702030302020204" pitchFamily="66" charset="0"/>
              </a:rPr>
              <a:t>, 15189–15211</a:t>
            </a:r>
            <a:endParaRPr lang="en-IN" sz="1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566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789F6-F386-A58C-C5D6-FC2B42C7B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6547" y="96184"/>
            <a:ext cx="8278906" cy="885451"/>
          </a:xfrm>
        </p:spPr>
        <p:txBody>
          <a:bodyPr/>
          <a:lstStyle/>
          <a:p>
            <a:r>
              <a:rPr lang="en-IN" b="1" dirty="0"/>
              <a:t>Phase transition in cell membranes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518C40-4997-899B-A7A9-5CFEFC4F9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586" y="1707239"/>
            <a:ext cx="5665414" cy="3254726"/>
          </a:xfrm>
          <a:prstGeom prst="rect">
            <a:avLst/>
          </a:prstGeom>
        </p:spPr>
      </p:pic>
      <p:pic>
        <p:nvPicPr>
          <p:cNvPr id="5" name="Picture 2" descr="Figure 1">
            <a:extLst>
              <a:ext uri="{FF2B5EF4-FFF2-40B4-BE49-F238E27FC236}">
                <a16:creationId xmlns:a16="http://schemas.microsoft.com/office/drawing/2014/main" id="{1B9BF9E3-0C65-44D4-0D0D-68D72DE48A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00" t="3290" b="42434"/>
          <a:stretch/>
        </p:blipFill>
        <p:spPr bwMode="auto">
          <a:xfrm>
            <a:off x="7781251" y="1559320"/>
            <a:ext cx="3401464" cy="3147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123655-81C9-CEF7-CF51-354164EF72A3}"/>
              </a:ext>
            </a:extLst>
          </p:cNvPr>
          <p:cNvSpPr txBox="1"/>
          <p:nvPr/>
        </p:nvSpPr>
        <p:spPr>
          <a:xfrm>
            <a:off x="7526150" y="4808076"/>
            <a:ext cx="60936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b="0" i="1" dirty="0">
                <a:solidFill>
                  <a:schemeClr val="accent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Roland Winter et al. , Chem. Rev.</a:t>
            </a:r>
            <a:r>
              <a:rPr lang="de-DE" sz="1400" b="0" i="0" dirty="0">
                <a:solidFill>
                  <a:schemeClr val="accent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2023, 123, 1, 73–104</a:t>
            </a:r>
            <a:endParaRPr lang="en-IN" sz="14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CFB942-B364-D102-8F38-0A8B0240500E}"/>
              </a:ext>
            </a:extLst>
          </p:cNvPr>
          <p:cNvSpPr txBox="1"/>
          <p:nvPr/>
        </p:nvSpPr>
        <p:spPr>
          <a:xfrm>
            <a:off x="633399" y="5210515"/>
            <a:ext cx="609361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i="1" dirty="0">
                <a:solidFill>
                  <a:schemeClr val="accent1"/>
                </a:solidFill>
                <a:effectLst/>
                <a:latin typeface="BlinkMacSystemFont"/>
              </a:rPr>
              <a:t>Crowe JH, Hoekstra FA, Crowe LM. Membrane phase transitions are responsible for imbibitional damage in dry pollen. Proc Natl </a:t>
            </a:r>
            <a:r>
              <a:rPr lang="en-IN" sz="1400" b="0" i="1" dirty="0" err="1">
                <a:solidFill>
                  <a:schemeClr val="accent1"/>
                </a:solidFill>
                <a:effectLst/>
                <a:latin typeface="BlinkMacSystemFont"/>
              </a:rPr>
              <a:t>Acad</a:t>
            </a:r>
            <a:r>
              <a:rPr lang="en-IN" sz="1400" b="0" i="1" dirty="0">
                <a:solidFill>
                  <a:schemeClr val="accent1"/>
                </a:solidFill>
                <a:effectLst/>
                <a:latin typeface="BlinkMacSystemFont"/>
              </a:rPr>
              <a:t> Sci U S A. 1989 Jan;86(2):520-3. </a:t>
            </a:r>
            <a:r>
              <a:rPr lang="en-IN" sz="1400" b="0" i="1" dirty="0" err="1">
                <a:solidFill>
                  <a:schemeClr val="accent1"/>
                </a:solidFill>
                <a:effectLst/>
                <a:latin typeface="BlinkMacSystemFont"/>
              </a:rPr>
              <a:t>doi</a:t>
            </a:r>
            <a:r>
              <a:rPr lang="en-IN" sz="1400" b="0" i="1" dirty="0">
                <a:solidFill>
                  <a:schemeClr val="accent1"/>
                </a:solidFill>
                <a:effectLst/>
                <a:latin typeface="BlinkMacSystemFont"/>
              </a:rPr>
              <a:t>: 10.1073/pnas.86.2.520. PMID: 16594011; PMCID: PMC286503</a:t>
            </a:r>
            <a:endParaRPr lang="en-IN" sz="1400" i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6643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E3EEF-E9C2-1F17-56CA-1575379D3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670" y="55842"/>
            <a:ext cx="5257800" cy="898899"/>
          </a:xfrm>
        </p:spPr>
        <p:txBody>
          <a:bodyPr>
            <a:normAutofit/>
          </a:bodyPr>
          <a:lstStyle/>
          <a:p>
            <a:r>
              <a:rPr lang="en-US" sz="3600" b="1" dirty="0"/>
              <a:t>Simulation details</a:t>
            </a:r>
            <a:endParaRPr lang="en-IN" sz="3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6DFE5C-1561-D26A-B9EE-057027171523}"/>
              </a:ext>
            </a:extLst>
          </p:cNvPr>
          <p:cNvSpPr txBox="1"/>
          <p:nvPr/>
        </p:nvSpPr>
        <p:spPr>
          <a:xfrm>
            <a:off x="242046" y="1574615"/>
            <a:ext cx="3307977" cy="6463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latin typeface="+mj-lt"/>
              </a:rPr>
              <a:t>Setting up DMPG System (With and Without Salt)</a:t>
            </a:r>
            <a:endParaRPr lang="en-IN" b="1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0470AB-2AB6-0872-8B05-24E96905266D}"/>
              </a:ext>
            </a:extLst>
          </p:cNvPr>
          <p:cNvSpPr txBox="1"/>
          <p:nvPr/>
        </p:nvSpPr>
        <p:spPr>
          <a:xfrm>
            <a:off x="510985" y="2303270"/>
            <a:ext cx="33079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+mj-lt"/>
              </a:rPr>
              <a:t>Done by Dr. </a:t>
            </a:r>
            <a:r>
              <a:rPr lang="en-US" sz="1600" b="1" dirty="0" err="1">
                <a:latin typeface="+mj-lt"/>
              </a:rPr>
              <a:t>Sheeba</a:t>
            </a:r>
            <a:r>
              <a:rPr lang="en-US" sz="1600" b="1" dirty="0">
                <a:latin typeface="+mj-lt"/>
              </a:rPr>
              <a:t> Malik</a:t>
            </a:r>
            <a:endParaRPr lang="en-IN" sz="1600" b="1" dirty="0">
              <a:latin typeface="+mj-lt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D9425A0-4DA7-726E-113D-BC478B9E9CDD}"/>
              </a:ext>
            </a:extLst>
          </p:cNvPr>
          <p:cNvCxnSpPr>
            <a:cxnSpLocks/>
          </p:cNvCxnSpPr>
          <p:nvPr/>
        </p:nvCxnSpPr>
        <p:spPr>
          <a:xfrm>
            <a:off x="3953434" y="1897780"/>
            <a:ext cx="2366683" cy="4554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4E13692-27FD-6BB5-2E5B-D37942D2FFA8}"/>
              </a:ext>
            </a:extLst>
          </p:cNvPr>
          <p:cNvSpPr txBox="1"/>
          <p:nvPr/>
        </p:nvSpPr>
        <p:spPr>
          <a:xfrm>
            <a:off x="6548718" y="2167568"/>
            <a:ext cx="2366683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latin typeface="+mj-lt"/>
              </a:rPr>
              <a:t>NPT </a:t>
            </a:r>
            <a:r>
              <a:rPr lang="en-US" b="1" dirty="0" err="1">
                <a:latin typeface="+mj-lt"/>
              </a:rPr>
              <a:t>Equilibriation</a:t>
            </a:r>
            <a:endParaRPr lang="en-IN" b="1" dirty="0">
              <a:latin typeface="+mj-lt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D0D3032-D304-A798-6744-FE0E7864C83A}"/>
              </a:ext>
            </a:extLst>
          </p:cNvPr>
          <p:cNvCxnSpPr>
            <a:cxnSpLocks/>
          </p:cNvCxnSpPr>
          <p:nvPr/>
        </p:nvCxnSpPr>
        <p:spPr>
          <a:xfrm>
            <a:off x="8319247" y="2801413"/>
            <a:ext cx="952501" cy="1084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C358B85-DE7C-62B0-1411-2C945D012E5F}"/>
              </a:ext>
            </a:extLst>
          </p:cNvPr>
          <p:cNvSpPr txBox="1"/>
          <p:nvPr/>
        </p:nvSpPr>
        <p:spPr>
          <a:xfrm>
            <a:off x="8319247" y="3987539"/>
            <a:ext cx="3334870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latin typeface="+mj-lt"/>
              </a:rPr>
              <a:t>Analysis NPT Trajectories by in-house scripts</a:t>
            </a:r>
            <a:endParaRPr lang="en-IN" b="1" dirty="0">
              <a:latin typeface="+mj-lt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AE8F22F-A7B4-1F7C-F9CD-1B2E2E345230}"/>
              </a:ext>
            </a:extLst>
          </p:cNvPr>
          <p:cNvCxnSpPr/>
          <p:nvPr/>
        </p:nvCxnSpPr>
        <p:spPr>
          <a:xfrm flipH="1">
            <a:off x="7086600" y="4814046"/>
            <a:ext cx="1075765" cy="5513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438976D-8BA0-9871-96EB-4F8182F47042}"/>
              </a:ext>
            </a:extLst>
          </p:cNvPr>
          <p:cNvSpPr txBox="1"/>
          <p:nvPr/>
        </p:nvSpPr>
        <p:spPr>
          <a:xfrm>
            <a:off x="4807323" y="5283924"/>
            <a:ext cx="30255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</a:rPr>
              <a:t>Area per lipid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</a:rPr>
              <a:t>Bilayer Thickness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</a:rPr>
              <a:t>Headgroup density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>
              <a:latin typeface="+mj-lt"/>
            </a:endParaRP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852BF244-DFED-F601-1A26-D737BD478071}"/>
              </a:ext>
            </a:extLst>
          </p:cNvPr>
          <p:cNvCxnSpPr>
            <a:cxnSpLocks/>
          </p:cNvCxnSpPr>
          <p:nvPr/>
        </p:nvCxnSpPr>
        <p:spPr>
          <a:xfrm rot="10800000">
            <a:off x="3715870" y="3885430"/>
            <a:ext cx="4343400" cy="57744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F657C03-959F-7C4B-0867-557E57BC591A}"/>
              </a:ext>
            </a:extLst>
          </p:cNvPr>
          <p:cNvSpPr txBox="1"/>
          <p:nvPr/>
        </p:nvSpPr>
        <p:spPr>
          <a:xfrm>
            <a:off x="1250576" y="3736384"/>
            <a:ext cx="2299447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latin typeface="+mj-lt"/>
              </a:rPr>
              <a:t>NVT Equilibration </a:t>
            </a:r>
            <a:endParaRPr lang="en-IN" b="1" dirty="0">
              <a:latin typeface="+mj-lt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575E5D7-196E-7189-FF45-1D0F2CC45BD1}"/>
              </a:ext>
            </a:extLst>
          </p:cNvPr>
          <p:cNvCxnSpPr/>
          <p:nvPr/>
        </p:nvCxnSpPr>
        <p:spPr>
          <a:xfrm>
            <a:off x="2205318" y="4310704"/>
            <a:ext cx="0" cy="907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30BB4EC-964A-3AAD-1C91-C85CB12D5D23}"/>
              </a:ext>
            </a:extLst>
          </p:cNvPr>
          <p:cNvSpPr txBox="1"/>
          <p:nvPr/>
        </p:nvSpPr>
        <p:spPr>
          <a:xfrm>
            <a:off x="410135" y="5348735"/>
            <a:ext cx="3980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+mj-lt"/>
              </a:rPr>
              <a:t>Performing SISF Calculation using in-house scripts</a:t>
            </a:r>
            <a:endParaRPr lang="en-IN" b="1" dirty="0"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D43403-7ADC-1110-086C-55DB56AE6C84}"/>
              </a:ext>
            </a:extLst>
          </p:cNvPr>
          <p:cNvSpPr txBox="1"/>
          <p:nvPr/>
        </p:nvSpPr>
        <p:spPr>
          <a:xfrm>
            <a:off x="9175378" y="251175"/>
            <a:ext cx="2783540" cy="280076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+mj-lt"/>
              </a:rPr>
              <a:t>Seven temperatures - 280K, 284K,290K,292K,300K,308K,310K 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+mj-lt"/>
              </a:rPr>
              <a:t>CHARMM force field is used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00000"/>
                </a:solidFill>
                <a:latin typeface="+mj-lt"/>
              </a:rPr>
              <a:t>Thermostat:- Berendsen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600" b="1" i="0" u="none" strike="noStrike" dirty="0" err="1">
                <a:solidFill>
                  <a:srgbClr val="000000"/>
                </a:solidFill>
                <a:effectLst/>
                <a:latin typeface="+mj-lt"/>
              </a:rPr>
              <a:t>Barostat</a:t>
            </a: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+mj-lt"/>
              </a:rPr>
              <a:t>:- Berendsen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+mj-lt"/>
              </a:rPr>
              <a:t>With  H-bond constrains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+mj-lt"/>
              </a:rPr>
              <a:t>LINCS algorithm for H-bond constraint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+mj-lt"/>
                <a:hlinkClick r:id="rId2"/>
              </a:rPr>
              <a:t>TIP4P/2005 </a:t>
            </a: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+mj-lt"/>
              </a:rPr>
              <a:t>water model is used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7D342A-567C-EDEF-2EA9-C5F14A703DC9}"/>
              </a:ext>
            </a:extLst>
          </p:cNvPr>
          <p:cNvSpPr txBox="1"/>
          <p:nvPr/>
        </p:nvSpPr>
        <p:spPr>
          <a:xfrm>
            <a:off x="551328" y="6005369"/>
            <a:ext cx="37113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B050"/>
                </a:solidFill>
                <a:latin typeface="+mj-lt"/>
              </a:rPr>
              <a:t>NVT Run lengths as required for different temperatures</a:t>
            </a:r>
          </a:p>
        </p:txBody>
      </p:sp>
    </p:spTree>
    <p:extLst>
      <p:ext uri="{BB962C8B-B14F-4D97-AF65-F5344CB8AC3E}">
        <p14:creationId xmlns:p14="http://schemas.microsoft.com/office/powerpoint/2010/main" val="2292909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F25D3-B823-FA6D-5FB7-C5F5423A3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6421" y="184942"/>
            <a:ext cx="4679157" cy="849313"/>
          </a:xfrm>
        </p:spPr>
        <p:txBody>
          <a:bodyPr/>
          <a:lstStyle/>
          <a:p>
            <a:r>
              <a:rPr lang="en-IN" b="1" dirty="0"/>
              <a:t>System information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D188B8D-20CA-2D91-336F-8BD8B64821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08" y="1034255"/>
            <a:ext cx="4401285" cy="1606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DB85019-F71B-B22F-3736-7128F4F0C2C5}"/>
              </a:ext>
            </a:extLst>
          </p:cNvPr>
          <p:cNvSpPr txBox="1"/>
          <p:nvPr/>
        </p:nvSpPr>
        <p:spPr>
          <a:xfrm>
            <a:off x="1837498" y="2644429"/>
            <a:ext cx="132210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DMPG Lipid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9A45F3-3799-5730-316A-1F1BFC7B1C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573" y="1242020"/>
            <a:ext cx="3910427" cy="34856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89942D-CD3C-2541-4934-AFC8AD691D25}"/>
              </a:ext>
            </a:extLst>
          </p:cNvPr>
          <p:cNvSpPr txBox="1"/>
          <p:nvPr/>
        </p:nvSpPr>
        <p:spPr>
          <a:xfrm>
            <a:off x="9158288" y="4935469"/>
            <a:ext cx="26003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System prepared using CHARMM GUI Membrane builder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FA757E-DAF0-79A5-AE34-41B7FBBA8CC9}"/>
              </a:ext>
            </a:extLst>
          </p:cNvPr>
          <p:cNvSpPr txBox="1"/>
          <p:nvPr/>
        </p:nvSpPr>
        <p:spPr>
          <a:xfrm>
            <a:off x="433387" y="3369172"/>
            <a:ext cx="5067301" cy="34163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                                  System Details</a:t>
            </a:r>
          </a:p>
          <a:p>
            <a:endParaRPr lang="en-IN" dirty="0">
              <a:latin typeface="+mj-lt"/>
            </a:endParaRPr>
          </a:p>
          <a:p>
            <a:r>
              <a:rPr lang="en-IN" dirty="0">
                <a:latin typeface="+mj-lt"/>
              </a:rPr>
              <a:t> </a:t>
            </a:r>
            <a:r>
              <a:rPr lang="en-IN" u="sng" dirty="0">
                <a:latin typeface="+mj-lt"/>
              </a:rPr>
              <a:t>Without Salt:-</a:t>
            </a:r>
          </a:p>
          <a:p>
            <a:endParaRPr lang="en-IN" u="sng" dirty="0">
              <a:latin typeface="+mj-lt"/>
            </a:endParaRPr>
          </a:p>
          <a:p>
            <a:r>
              <a:rPr lang="en-IN" dirty="0">
                <a:latin typeface="+mj-lt"/>
              </a:rPr>
              <a:t>DMPG Molecules:- 128</a:t>
            </a:r>
          </a:p>
          <a:p>
            <a:r>
              <a:rPr lang="en-IN" dirty="0">
                <a:latin typeface="+mj-lt"/>
              </a:rPr>
              <a:t>Water Molecules:- 5743</a:t>
            </a:r>
          </a:p>
          <a:p>
            <a:r>
              <a:rPr lang="en-IN" dirty="0">
                <a:latin typeface="+mj-lt"/>
              </a:rPr>
              <a:t>Sodium Ions:- 128</a:t>
            </a:r>
          </a:p>
          <a:p>
            <a:endParaRPr lang="en-IN" dirty="0">
              <a:latin typeface="+mj-lt"/>
            </a:endParaRPr>
          </a:p>
          <a:p>
            <a:r>
              <a:rPr lang="en-IN" u="sng" dirty="0">
                <a:latin typeface="+mj-lt"/>
              </a:rPr>
              <a:t>With Salt (Concn.-0.1M):-</a:t>
            </a:r>
          </a:p>
          <a:p>
            <a:endParaRPr lang="en-IN" u="sng" dirty="0">
              <a:latin typeface="+mj-lt"/>
            </a:endParaRPr>
          </a:p>
          <a:p>
            <a:r>
              <a:rPr lang="en-IN" dirty="0">
                <a:latin typeface="+mj-lt"/>
              </a:rPr>
              <a:t>Sodium Ions:- 18 </a:t>
            </a:r>
          </a:p>
          <a:p>
            <a:r>
              <a:rPr lang="en-IN" dirty="0">
                <a:latin typeface="+mj-lt"/>
              </a:rPr>
              <a:t>Chloride Ions:- 18</a:t>
            </a:r>
          </a:p>
        </p:txBody>
      </p:sp>
    </p:spTree>
    <p:extLst>
      <p:ext uri="{BB962C8B-B14F-4D97-AF65-F5344CB8AC3E}">
        <p14:creationId xmlns:p14="http://schemas.microsoft.com/office/powerpoint/2010/main" val="3824753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BABDD-689C-669D-CA4A-D0121E861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1650" y="88587"/>
            <a:ext cx="8556533" cy="697193"/>
          </a:xfrm>
        </p:spPr>
        <p:txBody>
          <a:bodyPr>
            <a:normAutofit fontScale="90000"/>
          </a:bodyPr>
          <a:lstStyle/>
          <a:p>
            <a:r>
              <a:rPr lang="en-IN" sz="3200" b="1" dirty="0">
                <a:solidFill>
                  <a:srgbClr val="7030A0"/>
                </a:solidFill>
              </a:rPr>
              <a:t>Structural Observation from NPT Simulations (CHARMM)</a:t>
            </a:r>
            <a:endParaRPr lang="en-IN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33E7D9-B11C-31A3-1CB0-AF8F974800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934" y="1009525"/>
            <a:ext cx="6554632" cy="509544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0315A37D-0A5D-1F07-C580-0CFEEE8EE07F}"/>
              </a:ext>
            </a:extLst>
          </p:cNvPr>
          <p:cNvSpPr/>
          <p:nvPr/>
        </p:nvSpPr>
        <p:spPr>
          <a:xfrm>
            <a:off x="3939988" y="4114800"/>
            <a:ext cx="766483" cy="1344706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+mj-lt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FE419BE-A5B4-A94C-1884-7CF18F0B1AA8}"/>
              </a:ext>
            </a:extLst>
          </p:cNvPr>
          <p:cNvCxnSpPr/>
          <p:nvPr/>
        </p:nvCxnSpPr>
        <p:spPr>
          <a:xfrm flipV="1">
            <a:off x="4417360" y="3827895"/>
            <a:ext cx="2689412" cy="6454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A74BC63-98AC-EA1F-D595-7EF690326CC5}"/>
              </a:ext>
            </a:extLst>
          </p:cNvPr>
          <p:cNvSpPr txBox="1"/>
          <p:nvPr/>
        </p:nvSpPr>
        <p:spPr>
          <a:xfrm>
            <a:off x="7193367" y="3550024"/>
            <a:ext cx="46392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B050"/>
                </a:solidFill>
                <a:latin typeface="+mj-lt"/>
              </a:rPr>
              <a:t>There is a prominent phase change in the absence of salt.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8638E6-C214-4A90-A1EE-D376F4E7A2AA}"/>
              </a:ext>
            </a:extLst>
          </p:cNvPr>
          <p:cNvSpPr txBox="1"/>
          <p:nvPr/>
        </p:nvSpPr>
        <p:spPr>
          <a:xfrm>
            <a:off x="9082678" y="4473354"/>
            <a:ext cx="28238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+mj-lt"/>
              </a:rPr>
              <a:t>Structurally, no change occurs in the bilayer on  addition of salt </a:t>
            </a:r>
            <a:endParaRPr lang="en-IN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56781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0721C-5714-FCA5-1712-14AE3E19E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2214" y="109555"/>
            <a:ext cx="8298659" cy="792163"/>
          </a:xfrm>
        </p:spPr>
        <p:txBody>
          <a:bodyPr>
            <a:normAutofit/>
          </a:bodyPr>
          <a:lstStyle/>
          <a:p>
            <a:r>
              <a:rPr lang="en-US" sz="3200" b="1" dirty="0"/>
              <a:t> </a:t>
            </a:r>
            <a:r>
              <a:rPr lang="en-US" sz="3200" b="1" dirty="0">
                <a:solidFill>
                  <a:schemeClr val="accent1"/>
                </a:solidFill>
                <a:cs typeface="Arial" panose="020B0604020202020204" pitchFamily="34" charset="0"/>
              </a:rPr>
              <a:t>Observation from relaxation times (CHARMM)</a:t>
            </a:r>
            <a:endParaRPr lang="en-IN" sz="3200" b="1" dirty="0">
              <a:solidFill>
                <a:schemeClr val="accent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444568-C92C-4E69-C4B8-DADA4FE9E2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8357" y="1122078"/>
            <a:ext cx="5799605" cy="37317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1411D96-4041-8008-2A0B-D731D40720E5}"/>
              </a:ext>
            </a:extLst>
          </p:cNvPr>
          <p:cNvSpPr txBox="1"/>
          <p:nvPr/>
        </p:nvSpPr>
        <p:spPr>
          <a:xfrm>
            <a:off x="6686828" y="1904196"/>
            <a:ext cx="33242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  <a:cs typeface="Arial" panose="020B0604020202020204" pitchFamily="34" charset="0"/>
              </a:rPr>
              <a:t>Dynamics in presence of salt becomes faster below the melting temperature.</a:t>
            </a:r>
            <a:endParaRPr lang="en-IN" sz="140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C9CBB2-BAB8-96FA-34D1-C6FEEF0536A5}"/>
              </a:ext>
            </a:extLst>
          </p:cNvPr>
          <p:cNvSpPr txBox="1"/>
          <p:nvPr/>
        </p:nvSpPr>
        <p:spPr>
          <a:xfrm>
            <a:off x="8348941" y="2865098"/>
            <a:ext cx="24619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  <a:cs typeface="Arial" panose="020B0604020202020204" pitchFamily="34" charset="0"/>
              </a:rPr>
              <a:t>Crossover in relaxation times is observed on regions above the melting temperature!!</a:t>
            </a:r>
            <a:endParaRPr lang="en-IN" sz="1400" dirty="0">
              <a:latin typeface="+mj-lt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F25B3F-B7B3-71FE-1D76-4D66D177F7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216" y="1122078"/>
            <a:ext cx="5298141" cy="35215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AF5345-C767-AD7D-A3CA-42187C982B65}"/>
              </a:ext>
            </a:extLst>
          </p:cNvPr>
          <p:cNvSpPr txBox="1"/>
          <p:nvPr/>
        </p:nvSpPr>
        <p:spPr>
          <a:xfrm>
            <a:off x="3650383" y="4643638"/>
            <a:ext cx="59295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  <a:latin typeface="+mj-lt"/>
              </a:rPr>
              <a:t>The SISF shows change in the dynamical properties in presence of salts and also change in the temperature</a:t>
            </a:r>
            <a:endParaRPr lang="en-IN" sz="2000" dirty="0">
              <a:solidFill>
                <a:srgbClr val="00B050"/>
              </a:solidFill>
              <a:latin typeface="+mj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63EAD2-0C1E-984A-721F-9B83D3EA935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2354" b="18277"/>
          <a:stretch/>
        </p:blipFill>
        <p:spPr>
          <a:xfrm>
            <a:off x="3437989" y="5425756"/>
            <a:ext cx="4748560" cy="75543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71EF7E8-A5D9-DB08-22B4-39EEC1ABFA6B}"/>
              </a:ext>
            </a:extLst>
          </p:cNvPr>
          <p:cNvSpPr txBox="1"/>
          <p:nvPr/>
        </p:nvSpPr>
        <p:spPr>
          <a:xfrm>
            <a:off x="4712633" y="6248158"/>
            <a:ext cx="6098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b="0" i="1" dirty="0">
                <a:solidFill>
                  <a:srgbClr val="1A1A1A"/>
                </a:solidFill>
                <a:effectLst/>
                <a:latin typeface="Helvetica" panose="020B0604020202020204" pitchFamily="34" charset="0"/>
              </a:rPr>
              <a:t>J. Chem. Phys.</a:t>
            </a:r>
            <a:r>
              <a:rPr lang="de-DE" sz="1200" b="0" i="0" dirty="0">
                <a:solidFill>
                  <a:srgbClr val="1A1A1A"/>
                </a:solidFill>
                <a:effectLst/>
                <a:latin typeface="Helvetica" panose="020B0604020202020204" pitchFamily="34" charset="0"/>
              </a:rPr>
              <a:t> 158, 114503 (2023)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201798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82130-CDCB-23CC-E83F-612F09BE9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0737" y="0"/>
            <a:ext cx="8034338" cy="949325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accent1"/>
                </a:solidFill>
              </a:rPr>
              <a:t> Structural observation using SLIPIDS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6C74A19-66CF-39E2-D962-1770EE591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1" y="1222159"/>
            <a:ext cx="4466291" cy="345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7944D32-2AED-9D22-43E3-F7FB0611E3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1410" y="1125321"/>
            <a:ext cx="4466291" cy="345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D07B9FF0-3E02-E7F4-9000-8965C4016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125" y="3910228"/>
            <a:ext cx="3814763" cy="2947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4502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43532A-A834-2CE9-8518-D10891ECC6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765" y="1988957"/>
            <a:ext cx="4840941" cy="374072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89D2D55-E45E-D1D9-834D-DD5864161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5942" y="1988957"/>
            <a:ext cx="4840941" cy="374126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5836B9E-0E4D-0E01-6715-3B47A9D67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03411"/>
            <a:ext cx="7987553" cy="1083516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1"/>
                </a:solidFill>
              </a:rPr>
              <a:t>  </a:t>
            </a:r>
            <a:r>
              <a:rPr lang="en-US" sz="4200" b="1" dirty="0">
                <a:solidFill>
                  <a:schemeClr val="accent1"/>
                </a:solidFill>
              </a:rPr>
              <a:t>Alpha relaxation study using SLIPIDS</a:t>
            </a:r>
            <a:endParaRPr lang="en-IN" sz="4200" b="1" dirty="0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E01680-25B1-F6CE-FBE4-D5EE207EEBF6}"/>
              </a:ext>
            </a:extLst>
          </p:cNvPr>
          <p:cNvSpPr txBox="1"/>
          <p:nvPr/>
        </p:nvSpPr>
        <p:spPr>
          <a:xfrm>
            <a:off x="4303059" y="5729683"/>
            <a:ext cx="56477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B0F0"/>
                </a:solidFill>
              </a:rPr>
              <a:t>Dynamics is faster at higher temperatures, i.e. the alpha relaxation is much more in the fluid phase.</a:t>
            </a:r>
          </a:p>
        </p:txBody>
      </p:sp>
    </p:spTree>
    <p:extLst>
      <p:ext uri="{BB962C8B-B14F-4D97-AF65-F5344CB8AC3E}">
        <p14:creationId xmlns:p14="http://schemas.microsoft.com/office/powerpoint/2010/main" val="2593162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97F40-A80B-A6D1-FE42-E7560726C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1611" y="246153"/>
            <a:ext cx="10515600" cy="804769"/>
          </a:xfrm>
        </p:spPr>
        <p:txBody>
          <a:bodyPr>
            <a:normAutofit/>
          </a:bodyPr>
          <a:lstStyle/>
          <a:p>
            <a:r>
              <a:rPr lang="en-IN" sz="4000" b="1" dirty="0"/>
              <a:t>Structural comparison between the 2 force fields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84DB896-97B6-F919-2BA2-6EE494ABB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306" y="1116104"/>
            <a:ext cx="6959388" cy="5377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09463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CE1B4-1C9A-AA38-483A-DB9ECF3C2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                           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300A4-6B22-8257-A318-84682FAC2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r>
              <a:rPr lang="en-IN" dirty="0"/>
              <a:t>Lipid bilayers are condensed phase systems and the motion of lipids can be correlated.</a:t>
            </a:r>
          </a:p>
          <a:p>
            <a:r>
              <a:rPr lang="en-IN" dirty="0"/>
              <a:t>The force field change causes the change in observed structural and dynamical observations.</a:t>
            </a:r>
          </a:p>
        </p:txBody>
      </p:sp>
    </p:spTree>
    <p:extLst>
      <p:ext uri="{BB962C8B-B14F-4D97-AF65-F5344CB8AC3E}">
        <p14:creationId xmlns:p14="http://schemas.microsoft.com/office/powerpoint/2010/main" val="87605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44B7B-5B59-4839-5851-E6EDAD365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IN" b="1" dirty="0"/>
              <a:t>                       Acknowledgement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886D9-61E8-2052-B097-A8879ABAF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130" y="1892860"/>
            <a:ext cx="4473388" cy="4333128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Prof. Ananya Debnath (Professor at IIT Jodhpur)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 err="1"/>
              <a:t>Dr.</a:t>
            </a:r>
            <a:r>
              <a:rPr lang="en-IN" dirty="0"/>
              <a:t>  </a:t>
            </a:r>
            <a:r>
              <a:rPr lang="en-IN" dirty="0" err="1"/>
              <a:t>Sheeba</a:t>
            </a:r>
            <a:r>
              <a:rPr lang="en-IN" dirty="0"/>
              <a:t> Malik (Post Doctoral student at University of Tennessee Knoxville and ORNL)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CCB Lab, IIT Jodhpur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Department of Chemistry and Theoretical Chemistry Faculties, IIT Jodhpur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High-Performance Computational Facility, IIT Jodhpur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34C17E-CF86-463C-F69D-AD9B73FA1B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0827" y="2529675"/>
            <a:ext cx="3153801" cy="35529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3A8304-26BF-38A3-03CA-EB9A0FCB19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559385" y="2778368"/>
            <a:ext cx="3603780" cy="311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9038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37155-CE61-05C0-E111-8F8D532BF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223" y="2766218"/>
            <a:ext cx="10515600" cy="1325563"/>
          </a:xfrm>
        </p:spPr>
        <p:txBody>
          <a:bodyPr/>
          <a:lstStyle/>
          <a:p>
            <a:r>
              <a:rPr lang="en-IN" dirty="0"/>
              <a:t>                              Thank You</a:t>
            </a:r>
          </a:p>
        </p:txBody>
      </p:sp>
    </p:spTree>
    <p:extLst>
      <p:ext uri="{BB962C8B-B14F-4D97-AF65-F5344CB8AC3E}">
        <p14:creationId xmlns:p14="http://schemas.microsoft.com/office/powerpoint/2010/main" val="27870255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89;p19">
            <a:extLst>
              <a:ext uri="{FF2B5EF4-FFF2-40B4-BE49-F238E27FC236}">
                <a16:creationId xmlns:a16="http://schemas.microsoft.com/office/drawing/2014/main" id="{701D716A-8F04-1D22-431C-E67C0A63C8D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06486" y="991353"/>
            <a:ext cx="8305701" cy="48752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12512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F38A94E-5CAB-48C8-A29F-D6A319998025}">
  <we:reference id="be13a235-7700-1110-ffca-78847a5a99ab" version="1.0.0.0" store="EXCatalog" storeType="EXCatalog"/>
  <we:alternateReferences/>
  <we:properties/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915</TotalTime>
  <Words>652</Words>
  <Application>Microsoft Office PowerPoint</Application>
  <PresentationFormat>Widescreen</PresentationFormat>
  <Paragraphs>88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Structure and Dynamics of model lipid bilayers using All atom MD Simulations</vt:lpstr>
      <vt:lpstr>Outline </vt:lpstr>
      <vt:lpstr>   Why study lipid dynamics?</vt:lpstr>
      <vt:lpstr>Insights from such studies</vt:lpstr>
      <vt:lpstr>           Dynamics in condensed phase</vt:lpstr>
      <vt:lpstr>How lipid molecules move in a cell membrane?</vt:lpstr>
      <vt:lpstr>Phase transition in cell membranes</vt:lpstr>
      <vt:lpstr>Simulation details</vt:lpstr>
      <vt:lpstr>System information</vt:lpstr>
      <vt:lpstr>Structural Observation from NPT Simulations (CHARMM)</vt:lpstr>
      <vt:lpstr> Observation from relaxation times (CHARMM)</vt:lpstr>
      <vt:lpstr> Structural observation using SLIPIDS</vt:lpstr>
      <vt:lpstr>  Alpha relaxation study using SLIPIDS</vt:lpstr>
      <vt:lpstr>Structural comparison between the 2 force fields</vt:lpstr>
      <vt:lpstr>                             Conclusion</vt:lpstr>
      <vt:lpstr>                       Acknowledgement</vt:lpstr>
      <vt:lpstr>                              Thank You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Structure and Dynamics of model lipid bilayers using All atom MD Simulations</dc:title>
  <dc:creator>KRITI  ALAM</dc:creator>
  <cp:lastModifiedBy>Alam, Kriti</cp:lastModifiedBy>
  <cp:revision>29</cp:revision>
  <dcterms:created xsi:type="dcterms:W3CDTF">2023-08-20T13:07:56Z</dcterms:created>
  <dcterms:modified xsi:type="dcterms:W3CDTF">2026-08-22T04:53:22Z</dcterms:modified>
</cp:coreProperties>
</file>